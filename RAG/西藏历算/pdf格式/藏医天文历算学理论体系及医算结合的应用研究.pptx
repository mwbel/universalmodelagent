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Lst>
  <p:notesMasterIdLst>
    <p:notesMasterId r:id="rId15"/>
  </p:notesMasterIdLst>
  <p:sldIdLst>
    <p:sldId id="257" r:id="rId3"/>
    <p:sldId id="484" r:id="rId4"/>
    <p:sldId id="483" r:id="rId5"/>
    <p:sldId id="485" r:id="rId6"/>
    <p:sldId id="486" r:id="rId7"/>
    <p:sldId id="488" r:id="rId8"/>
    <p:sldId id="497" r:id="rId9"/>
    <p:sldId id="498" r:id="rId10"/>
    <p:sldId id="487" r:id="rId11"/>
    <p:sldId id="489" r:id="rId12"/>
    <p:sldId id="490" r:id="rId13"/>
    <p:sldId id="49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432FF"/>
    <a:srgbClr val="D34C4C"/>
    <a:srgbClr val="FF0000"/>
    <a:srgbClr val="B40028"/>
    <a:srgbClr val="00FDFF"/>
    <a:srgbClr val="FF40FF"/>
    <a:srgbClr val="00FF00"/>
    <a:srgbClr val="C000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24" autoAdjust="0"/>
    <p:restoredTop sz="96405"/>
  </p:normalViewPr>
  <p:slideViewPr>
    <p:cSldViewPr snapToGrid="0">
      <p:cViewPr varScale="1">
        <p:scale>
          <a:sx n="91" d="100"/>
          <a:sy n="91" d="100"/>
        </p:scale>
        <p:origin x="848" y="176"/>
      </p:cViewPr>
      <p:guideLst/>
    </p:cSldViewPr>
  </p:slideViewPr>
  <p:outlineViewPr>
    <p:cViewPr>
      <p:scale>
        <a:sx n="33" d="100"/>
        <a:sy n="33" d="100"/>
      </p:scale>
      <p:origin x="0" y="-171"/>
    </p:cViewPr>
  </p:outlineViewPr>
  <p:notesTextViewPr>
    <p:cViewPr>
      <p:scale>
        <a:sx n="1" d="1"/>
        <a:sy n="1" d="1"/>
      </p:scale>
      <p:origin x="0" y="0"/>
    </p:cViewPr>
  </p:notesTextViewPr>
  <p:sorterViewPr>
    <p:cViewPr>
      <p:scale>
        <a:sx n="200" d="100"/>
        <a:sy n="200" d="100"/>
      </p:scale>
      <p:origin x="0" y="0"/>
    </p:cViewPr>
  </p:sorterViewPr>
  <p:notesViewPr>
    <p:cSldViewPr snapToGrid="0">
      <p:cViewPr varScale="1">
        <p:scale>
          <a:sx n="68" d="100"/>
          <a:sy n="68" d="100"/>
        </p:scale>
        <p:origin x="2088" y="4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B4435F-2CFF-4B1D-8A86-E0615372DB2B}" type="datetimeFigureOut">
              <a:rPr lang="zh-CN" altLang="en-US" smtClean="0"/>
              <a:t>2024/8/27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7667D9-58AC-4763-A28B-7E7CD1FEDBB1}" type="slidenum">
              <a:rPr lang="zh-CN" altLang="en-US" smtClean="0"/>
              <a:t>‹#›</a:t>
            </a:fld>
            <a:endParaRPr lang="zh-CN" altLang="en-US"/>
          </a:p>
        </p:txBody>
      </p:sp>
    </p:spTree>
    <p:extLst>
      <p:ext uri="{BB962C8B-B14F-4D97-AF65-F5344CB8AC3E}">
        <p14:creationId xmlns:p14="http://schemas.microsoft.com/office/powerpoint/2010/main" val="2232859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07667D9-58AC-4763-A28B-7E7CD1FEDBB1}" type="slidenum">
              <a:rPr lang="zh-CN" altLang="en-US" smtClean="0"/>
              <a:t>1</a:t>
            </a:fld>
            <a:endParaRPr lang="zh-CN" altLang="en-US"/>
          </a:p>
        </p:txBody>
      </p:sp>
    </p:spTree>
    <p:extLst>
      <p:ext uri="{BB962C8B-B14F-4D97-AF65-F5344CB8AC3E}">
        <p14:creationId xmlns:p14="http://schemas.microsoft.com/office/powerpoint/2010/main" val="16929846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509963"/>
            <a:ext cx="9144000" cy="1655762"/>
          </a:xfrm>
        </p:spPr>
        <p:txBody>
          <a:bodyPr/>
          <a:lstStyle>
            <a:lvl1pPr marL="0" indent="0" algn="ctr">
              <a:buNone/>
              <a:defRPr sz="2400">
                <a:latin typeface="Times New Roman" panose="02020603050405020304" pitchFamily="18" charset="0"/>
                <a:ea typeface="KaiTi" panose="02010609060101010101" pitchFamily="49" charset="-122"/>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pic>
        <p:nvPicPr>
          <p:cNvPr id="5" name="内容占位符 4">
            <a:extLst>
              <a:ext uri="{FF2B5EF4-FFF2-40B4-BE49-F238E27FC236}">
                <a16:creationId xmlns:a16="http://schemas.microsoft.com/office/drawing/2014/main" id="{67486F5E-770B-EB41-A9D9-EACD78FB6E5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1715" b="30939"/>
          <a:stretch/>
        </p:blipFill>
        <p:spPr>
          <a:xfrm>
            <a:off x="0" y="6497782"/>
            <a:ext cx="12192000" cy="360218"/>
          </a:xfrm>
          <a:prstGeom prst="rect">
            <a:avLst/>
          </a:prstGeom>
        </p:spPr>
      </p:pic>
    </p:spTree>
    <p:extLst>
      <p:ext uri="{BB962C8B-B14F-4D97-AF65-F5344CB8AC3E}">
        <p14:creationId xmlns:p14="http://schemas.microsoft.com/office/powerpoint/2010/main" val="1405282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pic>
        <p:nvPicPr>
          <p:cNvPr id="5" name="内容占位符 4">
            <a:extLst>
              <a:ext uri="{FF2B5EF4-FFF2-40B4-BE49-F238E27FC236}">
                <a16:creationId xmlns:a16="http://schemas.microsoft.com/office/drawing/2014/main" id="{B669D8A5-AABE-414E-A2D6-641366A092E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1715" b="30939"/>
          <a:stretch/>
        </p:blipFill>
        <p:spPr>
          <a:xfrm>
            <a:off x="0" y="6497782"/>
            <a:ext cx="12192000" cy="360218"/>
          </a:xfrm>
          <a:prstGeom prst="rect">
            <a:avLst/>
          </a:prstGeom>
        </p:spPr>
      </p:pic>
    </p:spTree>
    <p:extLst>
      <p:ext uri="{BB962C8B-B14F-4D97-AF65-F5344CB8AC3E}">
        <p14:creationId xmlns:p14="http://schemas.microsoft.com/office/powerpoint/2010/main" val="254368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5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b="1">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Content Placeholder 2"/>
          <p:cNvSpPr>
            <a:spLocks noGrp="1"/>
          </p:cNvSpPr>
          <p:nvPr>
            <p:ph idx="1"/>
          </p:nvPr>
        </p:nvSpPr>
        <p:spPr>
          <a:xfrm>
            <a:off x="734060" y="1856104"/>
            <a:ext cx="10723880" cy="4443095"/>
          </a:xfrm>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379214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3528517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2147251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FC7C91E-1DEA-43D5-9CFE-B86A6D6708B4}" type="datetimeFigureOut">
              <a:rPr lang="zh-CN" altLang="en-US" smtClean="0"/>
              <a:t>2024/8/27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354867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DFC7C91E-1DEA-43D5-9CFE-B86A6D6708B4}" type="datetimeFigureOut">
              <a:rPr lang="zh-CN" altLang="en-US" smtClean="0"/>
              <a:t>2024/8/27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4212054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FC7C91E-1DEA-43D5-9CFE-B86A6D6708B4}" type="datetimeFigureOut">
              <a:rPr lang="zh-CN" altLang="en-US" smtClean="0"/>
              <a:t>2024/8/27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2594685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fld id="{DFC7C91E-1DEA-43D5-9CFE-B86A6D6708B4}" type="datetimeFigureOut">
              <a:rPr lang="zh-CN" altLang="en-US" smtClean="0"/>
              <a:pPr/>
              <a:t>2024/8/27</a:t>
            </a:fld>
            <a:endParaRPr lang="zh-CN" altLang="en-US">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endParaRPr lang="zh-CN" alt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fld id="{1DE38DDB-1A49-46D2-BF86-FCD2EED8AA9C}" type="slidenum">
              <a:rPr lang="zh-CN" altLang="en-US" smtClean="0"/>
              <a:pPr/>
              <a:t>‹#›</a:t>
            </a:fld>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6266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C7C91E-1DEA-43D5-9CFE-B86A6D6708B4}" type="datetimeFigureOut">
              <a:rPr lang="zh-CN" altLang="en-US" smtClean="0"/>
              <a:t>2024/8/27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1574599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D0148B-10A1-A344-AF39-E750851D36D8}"/>
              </a:ext>
            </a:extLst>
          </p:cNvPr>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71E4A52-2EB8-C241-9A51-09FB2518115F}"/>
              </a:ext>
            </a:extLst>
          </p:cNvPr>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37D02A-AC8F-3B4B-96B1-06EEDF9B2CF1}"/>
              </a:ext>
            </a:extLst>
          </p:cNvPr>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74ADC45-D1AC-B348-BFCE-CDEA752BAF2A}"/>
              </a:ext>
            </a:extLst>
          </p:cNvPr>
          <p:cNvSpPr>
            <a:spLocks noGrp="1"/>
          </p:cNvSpPr>
          <p:nvPr>
            <p:ph type="dt" sz="half" idx="10"/>
          </p:nvPr>
        </p:nvSpPr>
        <p:spPr>
          <a:xfrm>
            <a:off x="609600" y="6245225"/>
            <a:ext cx="2844800" cy="47625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17957F65-8125-4048-8E46-B69B23C95644}"/>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858A98A6-5B8C-064D-8456-D88F8FB2E914}"/>
              </a:ext>
            </a:extLst>
          </p:cNvPr>
          <p:cNvSpPr>
            <a:spLocks noGrp="1"/>
          </p:cNvSpPr>
          <p:nvPr>
            <p:ph type="sldNum" sz="quarter" idx="12"/>
          </p:nvPr>
        </p:nvSpPr>
        <p:spPr>
          <a:xfrm>
            <a:off x="8737600" y="6245225"/>
            <a:ext cx="2844800" cy="476250"/>
          </a:xfrm>
        </p:spPr>
        <p:txBody>
          <a:bodyPr/>
          <a:lstStyle>
            <a:lvl1pPr>
              <a:defRPr/>
            </a:lvl1pPr>
          </a:lstStyle>
          <a:p>
            <a:fld id="{052E38A8-F578-004B-9E73-EF209CB8FDEA}" type="slidenum">
              <a:rPr lang="en-US" altLang="zh-CN"/>
              <a:pPr/>
              <a:t>‹#›</a:t>
            </a:fld>
            <a:endParaRPr lang="en-US" altLang="zh-CN"/>
          </a:p>
        </p:txBody>
      </p:sp>
    </p:spTree>
    <p:extLst>
      <p:ext uri="{BB962C8B-B14F-4D97-AF65-F5344CB8AC3E}">
        <p14:creationId xmlns:p14="http://schemas.microsoft.com/office/powerpoint/2010/main" val="4685325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509963"/>
            <a:ext cx="9144000" cy="1655762"/>
          </a:xfrm>
        </p:spPr>
        <p:txBody>
          <a:bodyPr/>
          <a:lstStyle>
            <a:lvl1pPr marL="0" indent="0" algn="ctr">
              <a:buNone/>
              <a:defRPr sz="2400">
                <a:latin typeface="Times New Roman" panose="02020603050405020304" pitchFamily="18" charset="0"/>
                <a:ea typeface="KaiTi" panose="02010609060101010101" pitchFamily="49" charset="-122"/>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pic>
        <p:nvPicPr>
          <p:cNvPr id="5" name="内容占位符 4">
            <a:extLst>
              <a:ext uri="{FF2B5EF4-FFF2-40B4-BE49-F238E27FC236}">
                <a16:creationId xmlns:a16="http://schemas.microsoft.com/office/drawing/2014/main" id="{67486F5E-770B-EB41-A9D9-EACD78FB6E5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1715" b="30939"/>
          <a:stretch/>
        </p:blipFill>
        <p:spPr>
          <a:xfrm>
            <a:off x="0" y="6497782"/>
            <a:ext cx="12192000" cy="360218"/>
          </a:xfrm>
          <a:prstGeom prst="rect">
            <a:avLst/>
          </a:prstGeom>
        </p:spPr>
      </p:pic>
    </p:spTree>
    <p:extLst>
      <p:ext uri="{BB962C8B-B14F-4D97-AF65-F5344CB8AC3E}">
        <p14:creationId xmlns:p14="http://schemas.microsoft.com/office/powerpoint/2010/main" val="3845780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pic>
        <p:nvPicPr>
          <p:cNvPr id="9" name="图片 8">
            <a:extLst>
              <a:ext uri="{FF2B5EF4-FFF2-40B4-BE49-F238E27FC236}">
                <a16:creationId xmlns:a16="http://schemas.microsoft.com/office/drawing/2014/main" id="{C48D6D01-C5C6-A54E-B721-10F22836520F}"/>
              </a:ext>
            </a:extLst>
          </p:cNvPr>
          <p:cNvPicPr>
            <a:picLocks noChangeAspect="1"/>
          </p:cNvPicPr>
          <p:nvPr userDrawn="1"/>
        </p:nvPicPr>
        <p:blipFill>
          <a:blip r:embed="rId2"/>
          <a:stretch>
            <a:fillRect/>
          </a:stretch>
        </p:blipFill>
        <p:spPr>
          <a:xfrm>
            <a:off x="0" y="6510528"/>
            <a:ext cx="12192000" cy="347472"/>
          </a:xfrm>
          <a:prstGeom prst="rect">
            <a:avLst/>
          </a:prstGeom>
        </p:spPr>
      </p:pic>
    </p:spTree>
    <p:extLst>
      <p:ext uri="{BB962C8B-B14F-4D97-AF65-F5344CB8AC3E}">
        <p14:creationId xmlns:p14="http://schemas.microsoft.com/office/powerpoint/2010/main" val="1627879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5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b="1">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Content Placeholder 2"/>
          <p:cNvSpPr>
            <a:spLocks noGrp="1"/>
          </p:cNvSpPr>
          <p:nvPr>
            <p:ph idx="1"/>
          </p:nvPr>
        </p:nvSpPr>
        <p:spPr>
          <a:xfrm>
            <a:off x="734060" y="1856104"/>
            <a:ext cx="10723880" cy="4443095"/>
          </a:xfrm>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40917885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23616972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49808" y="278946"/>
            <a:ext cx="10515600" cy="1325563"/>
          </a:xfrm>
        </p:spPr>
        <p:txBody>
          <a:bodyPr>
            <a:normAutofit/>
          </a:bodyPr>
          <a:lstStyle>
            <a:lvl1pPr>
              <a:defRPr sz="4000">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vl2pPr>
              <a:defRPr>
                <a:latin typeface="Times New Roman" panose="02020603050405020304" pitchFamily="18" charset="0"/>
                <a:ea typeface="KaiTi" panose="02010609060101010101" pitchFamily="49" charset="-122"/>
                <a:cs typeface="Times New Roman" panose="02020603050405020304" pitchFamily="18" charset="0"/>
              </a:defRPr>
            </a:lvl2pPr>
            <a:lvl3pPr>
              <a:defRPr>
                <a:latin typeface="Times New Roman" panose="02020603050405020304" pitchFamily="18" charset="0"/>
                <a:ea typeface="KaiTi" panose="02010609060101010101" pitchFamily="49" charset="-122"/>
                <a:cs typeface="Times New Roman" panose="02020603050405020304" pitchFamily="18" charset="0"/>
              </a:defRPr>
            </a:lvl3pPr>
            <a:lvl4pPr>
              <a:defRPr>
                <a:latin typeface="Times New Roman" panose="02020603050405020304" pitchFamily="18" charset="0"/>
                <a:ea typeface="KaiTi" panose="02010609060101010101" pitchFamily="49" charset="-122"/>
                <a:cs typeface="Times New Roman" panose="02020603050405020304" pitchFamily="18" charset="0"/>
              </a:defRPr>
            </a:lvl4pPr>
            <a:lvl5pPr>
              <a:defRPr>
                <a:latin typeface="Times New Roman" panose="02020603050405020304" pitchFamily="18" charset="0"/>
                <a:ea typeface="KaiTi" panose="02010609060101010101" pitchFamily="49" charset="-122"/>
                <a:cs typeface="Times New Roman" panose="02020603050405020304"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599567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FC7C91E-1DEA-43D5-9CFE-B86A6D6708B4}" type="datetimeFigureOut">
              <a:rPr lang="zh-CN" altLang="en-US" smtClean="0"/>
              <a:t>2024/8/27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7091677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DFC7C91E-1DEA-43D5-9CFE-B86A6D6708B4}" type="datetimeFigureOut">
              <a:rPr lang="zh-CN" altLang="en-US" smtClean="0"/>
              <a:t>2024/8/27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4661028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FC7C91E-1DEA-43D5-9CFE-B86A6D6708B4}" type="datetimeFigureOut">
              <a:rPr lang="zh-CN" altLang="en-US" smtClean="0"/>
              <a:t>2024/8/27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33892300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fld id="{DFC7C91E-1DEA-43D5-9CFE-B86A6D6708B4}" type="datetimeFigureOut">
              <a:rPr lang="zh-CN" altLang="en-US" smtClean="0"/>
              <a:pPr/>
              <a:t>2024/8/27</a:t>
            </a:fld>
            <a:endParaRPr lang="zh-CN" altLang="en-US">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endParaRPr lang="zh-CN" alt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lvl1pPr>
              <a:defRPr>
                <a:latin typeface="Times New Roman" panose="02020603050405020304" pitchFamily="18" charset="0"/>
                <a:ea typeface="KaiTi" panose="02010609060101010101" pitchFamily="49" charset="-122"/>
                <a:cs typeface="Times New Roman" panose="02020603050405020304" pitchFamily="18" charset="0"/>
              </a:defRPr>
            </a:lvl1pPr>
          </a:lstStyle>
          <a:p>
            <a:fld id="{1DE38DDB-1A49-46D2-BF86-FCD2EED8AA9C}" type="slidenum">
              <a:rPr lang="zh-CN" altLang="en-US" smtClean="0"/>
              <a:pPr/>
              <a:t>‹#›</a:t>
            </a:fld>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2883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C7C91E-1DEA-43D5-9CFE-B86A6D6708B4}" type="datetimeFigureOut">
              <a:rPr lang="zh-CN" altLang="en-US" smtClean="0"/>
              <a:t>2024/8/27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30463423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D0148B-10A1-A344-AF39-E750851D36D8}"/>
              </a:ext>
            </a:extLst>
          </p:cNvPr>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71E4A52-2EB8-C241-9A51-09FB2518115F}"/>
              </a:ext>
            </a:extLst>
          </p:cNvPr>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37D02A-AC8F-3B4B-96B1-06EEDF9B2CF1}"/>
              </a:ext>
            </a:extLst>
          </p:cNvPr>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74ADC45-D1AC-B348-BFCE-CDEA752BAF2A}"/>
              </a:ext>
            </a:extLst>
          </p:cNvPr>
          <p:cNvSpPr>
            <a:spLocks noGrp="1"/>
          </p:cNvSpPr>
          <p:nvPr>
            <p:ph type="dt" sz="half" idx="10"/>
          </p:nvPr>
        </p:nvSpPr>
        <p:spPr>
          <a:xfrm>
            <a:off x="609600" y="6245225"/>
            <a:ext cx="2844800" cy="47625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17957F65-8125-4048-8E46-B69B23C95644}"/>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858A98A6-5B8C-064D-8456-D88F8FB2E914}"/>
              </a:ext>
            </a:extLst>
          </p:cNvPr>
          <p:cNvSpPr>
            <a:spLocks noGrp="1"/>
          </p:cNvSpPr>
          <p:nvPr>
            <p:ph type="sldNum" sz="quarter" idx="12"/>
          </p:nvPr>
        </p:nvSpPr>
        <p:spPr>
          <a:xfrm>
            <a:off x="8737600" y="6245225"/>
            <a:ext cx="2844800" cy="476250"/>
          </a:xfrm>
        </p:spPr>
        <p:txBody>
          <a:bodyPr/>
          <a:lstStyle>
            <a:lvl1pPr>
              <a:defRPr/>
            </a:lvl1pPr>
          </a:lstStyle>
          <a:p>
            <a:fld id="{052E38A8-F578-004B-9E73-EF209CB8FDEA}" type="slidenum">
              <a:rPr lang="en-US" altLang="zh-CN"/>
              <a:pPr/>
              <a:t>‹#›</a:t>
            </a:fld>
            <a:endParaRPr lang="en-US" altLang="zh-CN"/>
          </a:p>
        </p:txBody>
      </p:sp>
    </p:spTree>
    <p:extLst>
      <p:ext uri="{BB962C8B-B14F-4D97-AF65-F5344CB8AC3E}">
        <p14:creationId xmlns:p14="http://schemas.microsoft.com/office/powerpoint/2010/main" val="3301753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6523"/>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733549"/>
            <a:ext cx="10515600" cy="4486279"/>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C7C91E-1DEA-43D5-9CFE-B86A6D6708B4}" type="datetimeFigureOut">
              <a:rPr lang="zh-CN" altLang="en-US" smtClean="0"/>
              <a:t>2024/8/27</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E38DDB-1A49-46D2-BF86-FCD2EED8AA9C}" type="slidenum">
              <a:rPr lang="zh-CN" altLang="en-US" smtClean="0"/>
              <a:t>‹#›</a:t>
            </a:fld>
            <a:endParaRPr lang="zh-CN" altLang="en-US"/>
          </a:p>
        </p:txBody>
      </p:sp>
      <p:pic>
        <p:nvPicPr>
          <p:cNvPr id="7" name="内容占位符 4">
            <a:extLst>
              <a:ext uri="{FF2B5EF4-FFF2-40B4-BE49-F238E27FC236}">
                <a16:creationId xmlns:a16="http://schemas.microsoft.com/office/drawing/2014/main" id="{8BF329A5-FDF5-B548-A569-48C1F9277BE9}"/>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t="41715" b="30939"/>
          <a:stretch/>
        </p:blipFill>
        <p:spPr>
          <a:xfrm>
            <a:off x="0" y="6497782"/>
            <a:ext cx="12192000" cy="360218"/>
          </a:xfrm>
          <a:prstGeom prst="rect">
            <a:avLst/>
          </a:prstGeom>
        </p:spPr>
      </p:pic>
    </p:spTree>
    <p:extLst>
      <p:ext uri="{BB962C8B-B14F-4D97-AF65-F5344CB8AC3E}">
        <p14:creationId xmlns:p14="http://schemas.microsoft.com/office/powerpoint/2010/main" val="1261240988"/>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7" r:id="rId3"/>
    <p:sldLayoutId id="2147483676" r:id="rId4"/>
    <p:sldLayoutId id="2147483674" r:id="rId5"/>
    <p:sldLayoutId id="2147483663" r:id="rId6"/>
    <p:sldLayoutId id="2147483664" r:id="rId7"/>
    <p:sldLayoutId id="2147483665" r:id="rId8"/>
    <p:sldLayoutId id="2147483666" r:id="rId9"/>
    <p:sldLayoutId id="214748366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p:titleStyle>
    <p:bodyStyle>
      <a:lvl1pPr marL="228600" indent="-228600" algn="l" defTabSz="914400" rtl="0" eaLnBrk="1" latinLnBrk="0" hangingPunct="1">
        <a:lnSpc>
          <a:spcPct val="100000"/>
        </a:lnSpc>
        <a:spcBef>
          <a:spcPts val="1000"/>
        </a:spcBef>
        <a:buFont typeface="Wingdings" pitchFamily="2" charset="2"/>
        <a:buChar char="p"/>
        <a:defRPr sz="2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vl2pPr marL="685800" indent="-228600" algn="l" defTabSz="914400" rtl="0" eaLnBrk="1" latinLnBrk="0" hangingPunct="1">
        <a:lnSpc>
          <a:spcPct val="100000"/>
        </a:lnSpc>
        <a:spcBef>
          <a:spcPts val="500"/>
        </a:spcBef>
        <a:buFont typeface="Wingdings" pitchFamily="2" charset="2"/>
        <a:buChar char="Ø"/>
        <a:defRPr sz="2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C7C91E-1DEA-43D5-9CFE-B86A6D6708B4}" type="datetimeFigureOut">
              <a:rPr lang="zh-CN" altLang="en-US" smtClean="0"/>
              <a:t>2024/8/27</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E38DDB-1A49-46D2-BF86-FCD2EED8AA9C}" type="slidenum">
              <a:rPr lang="zh-CN" altLang="en-US" smtClean="0"/>
              <a:t>‹#›</a:t>
            </a:fld>
            <a:endParaRPr lang="zh-CN" altLang="en-US"/>
          </a:p>
        </p:txBody>
      </p:sp>
    </p:spTree>
    <p:extLst>
      <p:ext uri="{BB962C8B-B14F-4D97-AF65-F5344CB8AC3E}">
        <p14:creationId xmlns:p14="http://schemas.microsoft.com/office/powerpoint/2010/main" val="1728151514"/>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p:titleStyle>
    <p:bodyStyle>
      <a:lvl1pPr marL="228600" indent="-228600" algn="l" defTabSz="914400" rtl="0" eaLnBrk="1" latinLnBrk="0" hangingPunct="1">
        <a:lnSpc>
          <a:spcPct val="100000"/>
        </a:lnSpc>
        <a:spcBef>
          <a:spcPts val="1000"/>
        </a:spcBef>
        <a:buFont typeface="Wingdings" pitchFamily="2" charset="2"/>
        <a:buChar char="p"/>
        <a:defRPr sz="2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1pPr>
      <a:lvl2pPr marL="685800" indent="-228600" algn="l" defTabSz="914400" rtl="0" eaLnBrk="1" latinLnBrk="0" hangingPunct="1">
        <a:lnSpc>
          <a:spcPct val="100000"/>
        </a:lnSpc>
        <a:spcBef>
          <a:spcPts val="500"/>
        </a:spcBef>
        <a:buFont typeface="Wingdings" pitchFamily="2" charset="2"/>
        <a:buChar char="Ø"/>
        <a:defRPr sz="24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KaiTi" panose="02010609060101010101" pitchFamily="49"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hyperlink" Target="https://www.zhihu.com/search?q=%E6%88%90%E4%BD%8F%E5%9D%8F%E7%A9%BA&amp;search_source=Entity&amp;hybrid_search_source=Entity&amp;hybrid_search_extra=%7B%22sourceType%22%3A%22answer%22%2C%22sourceId%22%3A883948291%7D" TargetMode="External"/><Relationship Id="rId3" Type="http://schemas.openxmlformats.org/officeDocument/2006/relationships/hyperlink" Target="https://www.zhihu.com/search?q=%E8%8B%A6%E9%9B%86%E7%81%AD%E9%81%93&amp;search_source=Entity&amp;hybrid_search_source=Entity&amp;hybrid_search_extra=%7B%22sourceType%22%3A%22answer%22%2C%22sourceId%22%3A883948291%7D" TargetMode="External"/><Relationship Id="rId7" Type="http://schemas.openxmlformats.org/officeDocument/2006/relationships/hyperlink" Target="https://www.zhihu.com/search?q=%E7%A0%97%E7%A3%B2%E7%8E%9B%E7%91%99&amp;search_source=Entity&amp;hybrid_search_source=Entity&amp;hybrid_search_extra=%7B%22sourceType%22%3A%22answer%22%2C%22sourceId%22%3A883948291%7D" TargetMode="External"/><Relationship Id="rId2" Type="http://schemas.openxmlformats.org/officeDocument/2006/relationships/hyperlink" Target="https://www.zhihu.com/search?q=%E5%A4%A9%E5%A0%82%E5%9C%B0%E7%8B%B1&amp;search_source=Entity&amp;hybrid_search_source=Entity&amp;hybrid_search_extra=%7B%22sourceType%22%3A%22answer%22%2C%22sourceId%22%3A883948291%7D" TargetMode="External"/><Relationship Id="rId1" Type="http://schemas.openxmlformats.org/officeDocument/2006/relationships/slideLayout" Target="../slideLayouts/slideLayout2.xml"/><Relationship Id="rId6" Type="http://schemas.openxmlformats.org/officeDocument/2006/relationships/hyperlink" Target="https://www.zhihu.com/search?q=%E5%9C%B0%E7%8B%B1%E5%A4%A9%E5%A0%82&amp;search_source=Entity&amp;hybrid_search_source=Entity&amp;hybrid_search_extra=%7B%22sourceType%22%3A%22answer%22%2C%22sourceId%22%3A883948291%7D" TargetMode="External"/><Relationship Id="rId5" Type="http://schemas.openxmlformats.org/officeDocument/2006/relationships/hyperlink" Target="https://www.zhihu.com/search?q=%E9%87%91%E6%A3%BA%E9%93%B6%E6%A4%81&amp;search_source=Entity&amp;hybrid_search_source=Entity&amp;hybrid_search_extra=%7B%22sourceType%22%3A%22answer%22%2C%22sourceId%22%3A883948291%7D" TargetMode="External"/><Relationship Id="rId10" Type="http://schemas.openxmlformats.org/officeDocument/2006/relationships/hyperlink" Target="https://www.zhihu.com/search?q=%E8%B5%B7%E4%B8%96%E7%BB%8F&amp;search_source=Entity&amp;hybrid_search_source=Entity&amp;hybrid_search_extra=%7B%22sourceType%22%3A%22answer%22%2C%22sourceId%22%3A883948291%7D" TargetMode="External"/><Relationship Id="rId4" Type="http://schemas.openxmlformats.org/officeDocument/2006/relationships/hyperlink" Target="https://www.zhihu.com/search?q=%E7%8E%8B%E6%96%87%E6%B2%BB&amp;search_source=Entity&amp;hybrid_search_source=Entity&amp;hybrid_search_extra=%7B%22sourceType%22%3A%22answer%22%2C%22sourceId%22%3A883948291%7D" TargetMode="External"/><Relationship Id="rId9" Type="http://schemas.openxmlformats.org/officeDocument/2006/relationships/hyperlink" Target="https://www.zhihu.com/search?q=%E9%A1%BB%E5%BC%A5%E5%B1%B1&amp;search_source=Entity&amp;hybrid_search_source=Entity&amp;hybrid_search_extra=%7B%22sourceType%22%3A%22answer%22%2C%22sourceId%22%3A883948291%7D"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zhihu.com/search?q=%E8%8A%B1%E9%B8%9F%E9%B1%BC%E8%99%AB&amp;search_source=Entity&amp;hybrid_search_source=Entity&amp;hybrid_search_extra=%7B%22sourceType%22%3A%22answer%22%2C%22sourceId%22%3A883948291%7D" TargetMode="External"/><Relationship Id="rId2" Type="http://schemas.openxmlformats.org/officeDocument/2006/relationships/hyperlink" Target="https://www.zhihu.com/search?q=%E5%A4%A9%E6%96%87%E5%9C%B0%E7%90%86&amp;search_source=Entity&amp;hybrid_search_source=Entity&amp;hybrid_search_extra=%7B%22sourceType%22%3A%22answer%22%2C%22sourceId%22%3A883948291%7D" TargetMode="External"/><Relationship Id="rId1" Type="http://schemas.openxmlformats.org/officeDocument/2006/relationships/slideLayout" Target="../slideLayouts/slideLayout2.xml"/><Relationship Id="rId5" Type="http://schemas.openxmlformats.org/officeDocument/2006/relationships/hyperlink" Target="file:///www.zhihu.com/question/354335746/answer/883948291" TargetMode="External"/><Relationship Id="rId4" Type="http://schemas.openxmlformats.org/officeDocument/2006/relationships/hyperlink" Target="https://www.zhihu.com/search?q=%E7%89%A9%E7%A7%8D%E8%B5%B7%E6%BA%90&amp;search_source=Entity&amp;hybrid_search_source=Entity&amp;hybrid_search_extra=%7B%22sourceType%22%3A%22answer%22%2C%22sourceId%22%3A883948291%7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28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A36BAF-FEFC-0243-9F71-503572A080DB}"/>
              </a:ext>
            </a:extLst>
          </p:cNvPr>
          <p:cNvSpPr>
            <a:spLocks noGrp="1"/>
          </p:cNvSpPr>
          <p:nvPr>
            <p:ph type="ctrTitle"/>
          </p:nvPr>
        </p:nvSpPr>
        <p:spPr/>
        <p:txBody>
          <a:bodyPr>
            <a:normAutofit/>
          </a:bodyPr>
          <a:lstStyle/>
          <a:p>
            <a:r>
              <a:rPr lang="zh-CN" altLang="en-US" dirty="0"/>
              <a:t>藏医天文历算学理论体系及医算结合的应用研究</a:t>
            </a:r>
          </a:p>
        </p:txBody>
      </p:sp>
      <p:sp>
        <p:nvSpPr>
          <p:cNvPr id="3" name="副标题 2">
            <a:extLst>
              <a:ext uri="{FF2B5EF4-FFF2-40B4-BE49-F238E27FC236}">
                <a16:creationId xmlns:a16="http://schemas.microsoft.com/office/drawing/2014/main" id="{3C0C6CAF-F709-B44A-9614-6BA8E49A1609}"/>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375421312"/>
      </p:ext>
    </p:extLst>
  </p:cSld>
  <p:clrMapOvr>
    <a:masterClrMapping/>
  </p:clrMapOvr>
  <mc:AlternateContent xmlns:mc="http://schemas.openxmlformats.org/markup-compatibility/2006" xmlns:p14="http://schemas.microsoft.com/office/powerpoint/2010/main">
    <mc:Choice Requires="p14">
      <p:transition spd="slow" p14:dur="2000" advTm="13159"/>
    </mc:Choice>
    <mc:Fallback xmlns="">
      <p:transition spd="slow" advTm="1315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351780-642B-7A4C-BF61-B4C390F5524E}"/>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165B9455-4439-944E-960E-E2F5CC161336}"/>
              </a:ext>
            </a:extLst>
          </p:cNvPr>
          <p:cNvSpPr>
            <a:spLocks noGrp="1"/>
          </p:cNvSpPr>
          <p:nvPr>
            <p:ph idx="1"/>
          </p:nvPr>
        </p:nvSpPr>
        <p:spPr/>
        <p:txBody>
          <a:bodyPr>
            <a:normAutofit fontScale="92500" lnSpcReduction="20000"/>
          </a:bodyPr>
          <a:lstStyle/>
          <a:p>
            <a:r>
              <a:rPr kumimoji="1" lang="zh-CN" altLang="en-US" sz="2800" dirty="0">
                <a:ea typeface="KaiTi" panose="02010609060101010101" pitchFamily="49" charset="-122"/>
                <a:cs typeface="Times New Roman" panose="02020603050405020304" pitchFamily="18" charset="0"/>
              </a:rPr>
              <a:t>藏医认为，随着季节、地理位置和宇宙空间的变化，人体的生理及病理状况也会发生变化，所以十分重视观察宇宙星球的运转及气候变化，认为不同季节会有不同的疾病发生，不同的药材应在不同季节采摘。</a:t>
            </a:r>
            <a:endParaRPr kumimoji="1" lang="en-US" altLang="zh-CN" sz="2800" dirty="0">
              <a:ea typeface="KaiTi" panose="02010609060101010101" pitchFamily="49" charset="-122"/>
              <a:cs typeface="Times New Roman" panose="02020603050405020304" pitchFamily="18" charset="0"/>
            </a:endParaRPr>
          </a:p>
          <a:p>
            <a:r>
              <a:rPr kumimoji="1" lang="zh-CN" altLang="en-US" sz="2800" dirty="0">
                <a:ea typeface="KaiTi" panose="02010609060101010101" pitchFamily="49" charset="-122"/>
                <a:cs typeface="Times New Roman" panose="02020603050405020304" pitchFamily="18" charset="0"/>
              </a:rPr>
              <a:t>天文历算是对整个宇宙大环境变化的研究，医学是对人体内部小环境的研究。大环境的变化会对小环境带来影响</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这就是天人合一的道理。</a:t>
            </a:r>
            <a:endParaRPr kumimoji="1" lang="en-US" altLang="zh-CN" sz="2800" dirty="0">
              <a:ea typeface="KaiTi" panose="02010609060101010101" pitchFamily="49" charset="-122"/>
              <a:cs typeface="Times New Roman" panose="02020603050405020304" pitchFamily="18" charset="0"/>
            </a:endParaRPr>
          </a:p>
          <a:p>
            <a:r>
              <a:rPr kumimoji="1" lang="zh-CN" altLang="en-US" sz="2800" dirty="0">
                <a:ea typeface="KaiTi" panose="02010609060101010101" pitchFamily="49" charset="-122"/>
                <a:cs typeface="Times New Roman" panose="02020603050405020304" pitchFamily="18" charset="0"/>
              </a:rPr>
              <a:t>藏医在理论和实践中有三千多年的藏医与天文历算的结合应用的历史，促使藏医这门独特的理论体系发展沿用至今。</a:t>
            </a:r>
            <a:endParaRPr kumimoji="1" lang="en-US" altLang="zh-CN" sz="2800" dirty="0">
              <a:ea typeface="KaiTi" panose="02010609060101010101" pitchFamily="49" charset="-122"/>
              <a:cs typeface="Times New Roman" panose="02020603050405020304" pitchFamily="18" charset="0"/>
            </a:endParaRPr>
          </a:p>
          <a:p>
            <a:r>
              <a:rPr kumimoji="1" lang="zh-CN" altLang="en-US" sz="2800" dirty="0">
                <a:ea typeface="KaiTi" panose="02010609060101010101" pitchFamily="49" charset="-122"/>
                <a:cs typeface="Times New Roman" panose="02020603050405020304" pitchFamily="18" charset="0"/>
              </a:rPr>
              <a:t>现代时间医学 </a:t>
            </a:r>
            <a:r>
              <a:rPr kumimoji="1" lang="en-US" altLang="zh-CN" sz="2800" dirty="0">
                <a:ea typeface="KaiTi" panose="02010609060101010101" pitchFamily="49" charset="-122"/>
                <a:cs typeface="Times New Roman" panose="02020603050405020304" pitchFamily="18" charset="0"/>
              </a:rPr>
              <a:t>(</a:t>
            </a:r>
            <a:r>
              <a:rPr kumimoji="1" lang="en-US" altLang="zh-CN" sz="2800" dirty="0" err="1">
                <a:ea typeface="KaiTi" panose="02010609060101010101" pitchFamily="49" charset="-122"/>
                <a:cs typeface="Times New Roman" panose="02020603050405020304" pitchFamily="18" charset="0"/>
              </a:rPr>
              <a:t>chronomedicne</a:t>
            </a:r>
            <a:r>
              <a:rPr kumimoji="1" lang="en-US" altLang="zh-CN" sz="2800" dirty="0">
                <a:ea typeface="KaiTi" panose="02010609060101010101" pitchFamily="49" charset="-122"/>
                <a:cs typeface="Times New Roman" panose="02020603050405020304" pitchFamily="18" charset="0"/>
              </a:rPr>
              <a:t>) </a:t>
            </a:r>
            <a:r>
              <a:rPr kumimoji="1" lang="zh-CN" altLang="en-US" sz="2800" dirty="0">
                <a:ea typeface="KaiTi" panose="02010609060101010101" pitchFamily="49" charset="-122"/>
                <a:cs typeface="Times New Roman" panose="02020603050405020304" pitchFamily="18" charset="0"/>
              </a:rPr>
              <a:t>，是现代医学与时间生物学相结合的产物。时间生物学是 </a:t>
            </a:r>
            <a:r>
              <a:rPr kumimoji="1" lang="en-US" altLang="zh-CN" sz="2800" dirty="0">
                <a:ea typeface="KaiTi" panose="02010609060101010101" pitchFamily="49" charset="-122"/>
                <a:cs typeface="Times New Roman" panose="02020603050405020304" pitchFamily="18" charset="0"/>
              </a:rPr>
              <a:t>1950 </a:t>
            </a:r>
            <a:r>
              <a:rPr kumimoji="1" lang="zh-CN" altLang="en-US" sz="2800" dirty="0">
                <a:ea typeface="KaiTi" panose="02010609060101010101" pitchFamily="49" charset="-122"/>
                <a:cs typeface="Times New Roman" panose="02020603050405020304" pitchFamily="18" charset="0"/>
              </a:rPr>
              <a:t>年在国外诞生的一门新兴生命科学，其主要内容是研究生命现象的时间特点。</a:t>
            </a:r>
            <a:endParaRPr kumimoji="1" lang="en-US" altLang="zh-CN" sz="2800" dirty="0">
              <a:ea typeface="KaiTi" panose="02010609060101010101" pitchFamily="49" charset="-122"/>
              <a:cs typeface="Times New Roman" panose="02020603050405020304" pitchFamily="18" charset="0"/>
            </a:endParaRPr>
          </a:p>
          <a:p>
            <a:r>
              <a:rPr kumimoji="1" lang="zh-CN" altLang="en-US" sz="2800" dirty="0">
                <a:ea typeface="KaiTi" panose="02010609060101010101" pitchFamily="49" charset="-122"/>
                <a:cs typeface="Times New Roman" panose="02020603050405020304" pitchFamily="18" charset="0"/>
              </a:rPr>
              <a:t>时间医学的亚分支</a:t>
            </a:r>
            <a:r>
              <a:rPr kumimoji="1" lang="zh-CN" altLang="en-US" dirty="0"/>
              <a:t>：</a:t>
            </a:r>
            <a:r>
              <a:rPr kumimoji="1" lang="zh-CN" altLang="en-US" sz="2800" dirty="0">
                <a:ea typeface="KaiTi" panose="02010609060101010101" pitchFamily="49" charset="-122"/>
                <a:cs typeface="Times New Roman" panose="02020603050405020304" pitchFamily="18" charset="0"/>
              </a:rPr>
              <a:t>时间生理学</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病理学</a:t>
            </a:r>
            <a:r>
              <a:rPr kumimoji="1" lang="en-US" altLang="zh-CN" dirty="0"/>
              <a:t>/</a:t>
            </a:r>
            <a:r>
              <a:rPr kumimoji="1" lang="zh-CN" altLang="en-US" sz="2800" dirty="0">
                <a:ea typeface="KaiTi" panose="02010609060101010101" pitchFamily="49" charset="-122"/>
                <a:cs typeface="Times New Roman" panose="02020603050405020304" pitchFamily="18" charset="0"/>
              </a:rPr>
              <a:t>治疗学</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药理学</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护理学</a:t>
            </a:r>
            <a:r>
              <a:rPr kumimoji="1" lang="en-US" altLang="zh-CN" sz="2800" dirty="0">
                <a:ea typeface="KaiTi" panose="02010609060101010101" pitchFamily="49" charset="-122"/>
                <a:cs typeface="Times New Roman" panose="02020603050405020304" pitchFamily="18" charset="0"/>
              </a:rPr>
              <a:t>…</a:t>
            </a:r>
            <a:endParaRPr kumimoji="1" lang="zh-CN" altLang="en-US" sz="2800" dirty="0">
              <a:ea typeface="KaiTi" panose="02010609060101010101" pitchFamily="49" charset="-122"/>
              <a:cs typeface="Times New Roman" panose="02020603050405020304" pitchFamily="18" charset="0"/>
            </a:endParaRPr>
          </a:p>
          <a:p>
            <a:endParaRPr kumimoji="1" lang="zh-CN" altLang="en-US" dirty="0"/>
          </a:p>
        </p:txBody>
      </p:sp>
    </p:spTree>
    <p:extLst>
      <p:ext uri="{BB962C8B-B14F-4D97-AF65-F5344CB8AC3E}">
        <p14:creationId xmlns:p14="http://schemas.microsoft.com/office/powerpoint/2010/main" val="2231650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60BE84-8839-FB42-B723-7B8C702FBEC1}"/>
              </a:ext>
            </a:extLst>
          </p:cNvPr>
          <p:cNvSpPr>
            <a:spLocks noGrp="1"/>
          </p:cNvSpPr>
          <p:nvPr>
            <p:ph type="title"/>
          </p:nvPr>
        </p:nvSpPr>
        <p:spPr/>
        <p:txBody>
          <a:bodyPr/>
          <a:lstStyle/>
          <a:p>
            <a:r>
              <a:rPr kumimoji="1" lang="zh-CN" altLang="en-US" dirty="0"/>
              <a:t>关于人工智能的问题</a:t>
            </a:r>
          </a:p>
        </p:txBody>
      </p:sp>
      <p:sp>
        <p:nvSpPr>
          <p:cNvPr id="3" name="内容占位符 2">
            <a:extLst>
              <a:ext uri="{FF2B5EF4-FFF2-40B4-BE49-F238E27FC236}">
                <a16:creationId xmlns:a16="http://schemas.microsoft.com/office/drawing/2014/main" id="{C21337BB-0098-3D47-9696-2F270DCCD762}"/>
              </a:ext>
            </a:extLst>
          </p:cNvPr>
          <p:cNvSpPr>
            <a:spLocks noGrp="1"/>
          </p:cNvSpPr>
          <p:nvPr>
            <p:ph idx="1"/>
          </p:nvPr>
        </p:nvSpPr>
        <p:spPr/>
        <p:txBody>
          <a:bodyPr>
            <a:normAutofit/>
          </a:bodyPr>
          <a:lstStyle/>
          <a:p>
            <a:pPr algn="l"/>
            <a:r>
              <a:rPr kumimoji="1" lang="zh-CN" altLang="en-US" sz="2800" dirty="0">
                <a:ea typeface="KaiTi" panose="02010609060101010101" pitchFamily="49" charset="-122"/>
                <a:cs typeface="Times New Roman" panose="02020603050405020304" pitchFamily="18" charset="0"/>
              </a:rPr>
              <a:t>时间医学对于藏族人来讲是个新名词，但不</a:t>
            </a:r>
            <a:r>
              <a:rPr kumimoji="1" lang="zh-CN" altLang="en-US" dirty="0"/>
              <a:t>是</a:t>
            </a:r>
            <a:r>
              <a:rPr kumimoji="1" lang="zh-CN" altLang="en-US" sz="2800" dirty="0">
                <a:ea typeface="KaiTi" panose="02010609060101010101" pitchFamily="49" charset="-122"/>
                <a:cs typeface="Times New Roman" panose="02020603050405020304" pitchFamily="18" charset="0"/>
              </a:rPr>
              <a:t>新内容，因为在</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时轮经</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和藏医学巨著</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四部医典</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中早已有时间医学的理论。所谓“天人相应”等理论其实就是现代时间医学的理论基础。</a:t>
            </a:r>
            <a:endParaRPr kumimoji="1" lang="en-US" altLang="zh-CN" sz="2800" dirty="0">
              <a:ea typeface="KaiTi" panose="02010609060101010101" pitchFamily="49" charset="-122"/>
              <a:cs typeface="Times New Roman" panose="02020603050405020304" pitchFamily="18" charset="0"/>
            </a:endParaRPr>
          </a:p>
          <a:p>
            <a:pPr algn="l"/>
            <a:r>
              <a:rPr kumimoji="1" lang="zh-CN" altLang="en-US" sz="2800" dirty="0">
                <a:ea typeface="KaiTi" panose="02010609060101010101" pitchFamily="49" charset="-122"/>
                <a:cs typeface="Times New Roman" panose="02020603050405020304" pitchFamily="18" charset="0"/>
              </a:rPr>
              <a:t>藏医和天文历算密不可分。在藏医巨著</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四部医典</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为首的理论体系中恰好完整地体现了现代时间医学所研究的内容。而天文历算也是藏族文化的重要组成部分，从最早的物候历，到后来出现的时轮历，时宪历，西藏的历法不仅仅描述的是宇宙，自然运行的规律，更记载着天人合一，人神呼应的神奇密法。</a:t>
            </a:r>
          </a:p>
        </p:txBody>
      </p:sp>
    </p:spTree>
    <p:extLst>
      <p:ext uri="{BB962C8B-B14F-4D97-AF65-F5344CB8AC3E}">
        <p14:creationId xmlns:p14="http://schemas.microsoft.com/office/powerpoint/2010/main" val="1464374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3E8255-E707-8E41-BDFD-FB93DD7FF0C5}"/>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F63ECE14-2C2C-3D46-B03F-D79D09E18CE2}"/>
              </a:ext>
            </a:extLst>
          </p:cNvPr>
          <p:cNvSpPr>
            <a:spLocks noGrp="1"/>
          </p:cNvSpPr>
          <p:nvPr>
            <p:ph idx="1"/>
          </p:nvPr>
        </p:nvSpPr>
        <p:spPr/>
        <p:txBody>
          <a:bodyPr>
            <a:normAutofit fontScale="92500" lnSpcReduction="20000"/>
          </a:bodyPr>
          <a:lstStyle/>
          <a:p>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时轮经</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里分</a:t>
            </a:r>
            <a:r>
              <a:rPr kumimoji="1" lang="en-US" altLang="zh-CN" sz="2800" dirty="0">
                <a:ea typeface="KaiTi" panose="02010609060101010101" pitchFamily="49" charset="-122"/>
                <a:cs typeface="Times New Roman" panose="02020603050405020304" pitchFamily="18" charset="0"/>
              </a:rPr>
              <a:t>: </a:t>
            </a:r>
            <a:r>
              <a:rPr kumimoji="1" lang="zh-CN" altLang="en-US" sz="2800" dirty="0">
                <a:ea typeface="KaiTi" panose="02010609060101010101" pitchFamily="49" charset="-122"/>
                <a:cs typeface="Times New Roman" panose="02020603050405020304" pitchFamily="18" charset="0"/>
              </a:rPr>
              <a:t>外时轮、内时轮和别时轮三部分。</a:t>
            </a:r>
            <a:endParaRPr kumimoji="1" lang="en-US" altLang="zh-CN" sz="2800" dirty="0">
              <a:ea typeface="KaiTi" panose="02010609060101010101" pitchFamily="49" charset="-122"/>
              <a:cs typeface="Times New Roman" panose="02020603050405020304" pitchFamily="18" charset="0"/>
            </a:endParaRPr>
          </a:p>
          <a:p>
            <a:r>
              <a:rPr kumimoji="1" lang="zh-CN" altLang="en-US" sz="2800" dirty="0">
                <a:ea typeface="KaiTi" panose="02010609060101010101" pitchFamily="49" charset="-122"/>
                <a:cs typeface="Times New Roman" panose="02020603050405020304" pitchFamily="18" charset="0"/>
              </a:rPr>
              <a:t>外时轮：宇宙结构及历法知识，是西藏的天文历算和星象学的理论基础</a:t>
            </a:r>
            <a:endParaRPr kumimoji="1" lang="en-US" altLang="zh-CN" sz="2800" dirty="0">
              <a:ea typeface="KaiTi" panose="02010609060101010101" pitchFamily="49" charset="-122"/>
              <a:cs typeface="Times New Roman" panose="02020603050405020304" pitchFamily="18" charset="0"/>
            </a:endParaRPr>
          </a:p>
          <a:p>
            <a:r>
              <a:rPr kumimoji="1" lang="zh-CN" altLang="en-US" sz="2800" dirty="0">
                <a:ea typeface="KaiTi" panose="02010609060101010101" pitchFamily="49" charset="-122"/>
                <a:cs typeface="Times New Roman" panose="02020603050405020304" pitchFamily="18" charset="0"/>
              </a:rPr>
              <a:t>内时轮：人体生理知识</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人体的生理形成、胚胎发育病理病因、诊断治疗以及人体内脉息运行的规律</a:t>
            </a:r>
            <a:r>
              <a:rPr kumimoji="1" lang="en-US" altLang="zh-CN" sz="2800" dirty="0">
                <a:ea typeface="KaiTi" panose="02010609060101010101" pitchFamily="49" charset="-122"/>
                <a:cs typeface="Times New Roman" panose="02020603050405020304" pitchFamily="18" charset="0"/>
              </a:rPr>
              <a:t>)</a:t>
            </a:r>
            <a:r>
              <a:rPr kumimoji="1" lang="zh-CN" altLang="en-US" sz="2800" dirty="0">
                <a:ea typeface="KaiTi" panose="02010609060101010101" pitchFamily="49" charset="-122"/>
                <a:cs typeface="Times New Roman" panose="02020603050405020304" pitchFamily="18" charset="0"/>
              </a:rPr>
              <a:t>构筑了藏医理论体系的基础</a:t>
            </a:r>
            <a:r>
              <a:rPr kumimoji="1" lang="en-US" altLang="zh-CN" sz="2800" dirty="0">
                <a:ea typeface="KaiTi" panose="02010609060101010101" pitchFamily="49" charset="-122"/>
                <a:cs typeface="Times New Roman" panose="02020603050405020304" pitchFamily="18" charset="0"/>
              </a:rPr>
              <a:t>; </a:t>
            </a:r>
          </a:p>
          <a:p>
            <a:r>
              <a:rPr kumimoji="1" lang="zh-CN" altLang="en-US" sz="2800" dirty="0">
                <a:ea typeface="KaiTi" panose="02010609060101010101" pitchFamily="49" charset="-122"/>
                <a:cs typeface="Times New Roman" panose="02020603050405020304" pitchFamily="18" charset="0"/>
              </a:rPr>
              <a:t>别时轮：怎样使内时轮与外时轮结合，做到天人合一，是西藏天文星象学的指导思想。</a:t>
            </a:r>
            <a:endParaRPr kumimoji="1" lang="en-US" altLang="zh-CN" sz="2800" dirty="0">
              <a:ea typeface="KaiTi" panose="02010609060101010101" pitchFamily="49" charset="-122"/>
              <a:cs typeface="Times New Roman" panose="02020603050405020304" pitchFamily="18" charset="0"/>
            </a:endParaRPr>
          </a:p>
          <a:p>
            <a:r>
              <a:rPr kumimoji="1" lang="zh-CN" altLang="en-US" sz="2800" dirty="0">
                <a:ea typeface="KaiTi" panose="02010609060101010101" pitchFamily="49" charset="-122"/>
                <a:cs typeface="Times New Roman" panose="02020603050405020304" pitchFamily="18" charset="0"/>
              </a:rPr>
              <a:t>时轮金刚密法将较为先进的天文历法和医学知识相结合，</a:t>
            </a:r>
            <a:r>
              <a:rPr kumimoji="1" lang="zh-CN" altLang="en-US" dirty="0"/>
              <a:t>所以</a:t>
            </a:r>
            <a:r>
              <a:rPr kumimoji="1" lang="zh-CN" altLang="en-US" sz="2800" dirty="0">
                <a:ea typeface="KaiTi" panose="02010609060101010101" pitchFamily="49" charset="-122"/>
                <a:cs typeface="Times New Roman" panose="02020603050405020304" pitchFamily="18" charset="0"/>
              </a:rPr>
              <a:t>在藏传佛教中拥有了至高无上的地位。再加之藏医本身，也极为重视时令节气对人体健康的影响，极为重视节气养生的作用，甚至采药的时间都有严格的规定，有着有药必有医，有医必有药的密不可分的关系。</a:t>
            </a:r>
          </a:p>
        </p:txBody>
      </p:sp>
    </p:spTree>
    <p:extLst>
      <p:ext uri="{BB962C8B-B14F-4D97-AF65-F5344CB8AC3E}">
        <p14:creationId xmlns:p14="http://schemas.microsoft.com/office/powerpoint/2010/main" val="86183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5BFB96-FABB-8340-A696-295D136C7C27}"/>
              </a:ext>
            </a:extLst>
          </p:cNvPr>
          <p:cNvSpPr>
            <a:spLocks noGrp="1"/>
          </p:cNvSpPr>
          <p:nvPr>
            <p:ph type="title"/>
          </p:nvPr>
        </p:nvSpPr>
        <p:spPr/>
        <p:txBody>
          <a:bodyPr/>
          <a:lstStyle/>
          <a:p>
            <a:r>
              <a:rPr kumimoji="1" lang="zh-CN" altLang="en-US" dirty="0"/>
              <a:t>论文的工作</a:t>
            </a:r>
          </a:p>
        </p:txBody>
      </p:sp>
      <p:sp>
        <p:nvSpPr>
          <p:cNvPr id="3" name="内容占位符 2">
            <a:extLst>
              <a:ext uri="{FF2B5EF4-FFF2-40B4-BE49-F238E27FC236}">
                <a16:creationId xmlns:a16="http://schemas.microsoft.com/office/drawing/2014/main" id="{533CA86C-E4C9-FE42-8FDE-E728D9E11C40}"/>
              </a:ext>
            </a:extLst>
          </p:cNvPr>
          <p:cNvSpPr>
            <a:spLocks noGrp="1"/>
          </p:cNvSpPr>
          <p:nvPr>
            <p:ph idx="1"/>
          </p:nvPr>
        </p:nvSpPr>
        <p:spPr/>
        <p:txBody>
          <a:bodyPr>
            <a:normAutofit/>
          </a:bodyPr>
          <a:lstStyle/>
          <a:p>
            <a:r>
              <a:rPr kumimoji="1" lang="zh-CN" altLang="en-US" dirty="0"/>
              <a:t>从三方面挖掘和研究了医算关系在临床应用的重要性和必要性。</a:t>
            </a:r>
            <a:endParaRPr kumimoji="1" lang="en-US" altLang="zh-CN" dirty="0"/>
          </a:p>
          <a:p>
            <a:pPr marL="914400" lvl="1" indent="-457200">
              <a:buFont typeface="+mj-ea"/>
              <a:buAutoNum type="circleNumDbPlain"/>
            </a:pPr>
            <a:r>
              <a:rPr kumimoji="1" lang="zh-CN" altLang="en-US" dirty="0"/>
              <a:t>从对现代时间医学和藏医进行对比，找出藏医在哪方面还在时间医学理论体系上有不足之处。</a:t>
            </a:r>
            <a:endParaRPr kumimoji="1" lang="en-US" altLang="zh-CN" dirty="0"/>
          </a:p>
          <a:p>
            <a:pPr marL="914400" lvl="1" indent="-457200">
              <a:buFont typeface="+mj-ea"/>
              <a:buAutoNum type="circleNumDbPlain"/>
            </a:pPr>
            <a:r>
              <a:rPr kumimoji="1" lang="zh-CN" altLang="en-US" dirty="0"/>
              <a:t>从四部医典本身的章节内容上找出在疾病预防及养生，组织胚胎，病理学，诊断以及采药和治疗方面的相关内容进行分析。</a:t>
            </a:r>
            <a:endParaRPr kumimoji="1" lang="en-US" altLang="zh-CN" dirty="0"/>
          </a:p>
          <a:p>
            <a:pPr marL="914400" lvl="1" indent="-457200">
              <a:buFont typeface="+mj-ea"/>
              <a:buAutoNum type="circleNumDbPlain"/>
            </a:pPr>
            <a:r>
              <a:rPr kumimoji="1" lang="zh-CN" altLang="en-US" dirty="0"/>
              <a:t>对临床上医算结合的实际应用程度进行问卷调查以及访问，总结并找出问题及解决</a:t>
            </a:r>
            <a:r>
              <a:rPr kumimoji="1" lang="zh-CN" altLang="en-US"/>
              <a:t>方案。</a:t>
            </a:r>
            <a:endParaRPr kumimoji="1" lang="en-US" altLang="zh-CN" dirty="0"/>
          </a:p>
        </p:txBody>
      </p:sp>
    </p:spTree>
    <p:extLst>
      <p:ext uri="{BB962C8B-B14F-4D97-AF65-F5344CB8AC3E}">
        <p14:creationId xmlns:p14="http://schemas.microsoft.com/office/powerpoint/2010/main" val="1350252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C78DD51-4122-0141-9CC1-7600C99C0A33}"/>
              </a:ext>
            </a:extLst>
          </p:cNvPr>
          <p:cNvSpPr>
            <a:spLocks noGrp="1"/>
          </p:cNvSpPr>
          <p:nvPr>
            <p:ph type="ctrTitle"/>
          </p:nvPr>
        </p:nvSpPr>
        <p:spPr/>
        <p:txBody>
          <a:bodyPr>
            <a:normAutofit/>
          </a:bodyPr>
          <a:lstStyle/>
          <a:p>
            <a:r>
              <a:rPr kumimoji="1" lang="zh-CN" altLang="en-US" dirty="0"/>
              <a:t>起世经</a:t>
            </a:r>
            <a:r>
              <a:rPr lang="zh-CN" altLang="en-US" b="0" i="0" dirty="0">
                <a:solidFill>
                  <a:srgbClr val="333333"/>
                </a:solidFill>
                <a:effectLst/>
                <a:latin typeface="Helvetica Neue" panose="02000503000000020004" pitchFamily="2" charset="0"/>
              </a:rPr>
              <a:t>，为佛陀解说宇宙形成、发展、组织和灭亡的经书。</a:t>
            </a:r>
            <a:endParaRPr lang="zh-CN" altLang="en-US" dirty="0"/>
          </a:p>
        </p:txBody>
      </p:sp>
      <p:sp>
        <p:nvSpPr>
          <p:cNvPr id="5" name="副标题 4">
            <a:extLst>
              <a:ext uri="{FF2B5EF4-FFF2-40B4-BE49-F238E27FC236}">
                <a16:creationId xmlns:a16="http://schemas.microsoft.com/office/drawing/2014/main" id="{7C58D770-482B-E34C-A093-4E9DFFC02FA0}"/>
              </a:ext>
            </a:extLst>
          </p:cNvPr>
          <p:cNvSpPr>
            <a:spLocks noGrp="1"/>
          </p:cNvSpPr>
          <p:nvPr>
            <p:ph type="subTitle" idx="1"/>
          </p:nvPr>
        </p:nvSpPr>
        <p:spPr/>
        <p:txBody>
          <a:bodyPr/>
          <a:lstStyle/>
          <a:p>
            <a:r>
              <a:rPr lang="zh-CN" altLang="en-US" dirty="0"/>
              <a:t>今此世间，众生所居国土天地，云何成立？云何散坏？云何坏已而复成立？云何立已而得安住？」</a:t>
            </a:r>
          </a:p>
        </p:txBody>
      </p:sp>
    </p:spTree>
    <p:extLst>
      <p:ext uri="{BB962C8B-B14F-4D97-AF65-F5344CB8AC3E}">
        <p14:creationId xmlns:p14="http://schemas.microsoft.com/office/powerpoint/2010/main" val="1586210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75BC7-E4A2-BA40-83F4-4A90339FE0F3}"/>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BC75A0D8-3D5D-574D-A201-FA74E22BBC20}"/>
              </a:ext>
            </a:extLst>
          </p:cNvPr>
          <p:cNvSpPr>
            <a:spLocks noGrp="1"/>
          </p:cNvSpPr>
          <p:nvPr>
            <p:ph idx="1"/>
          </p:nvPr>
        </p:nvSpPr>
        <p:spPr/>
        <p:txBody>
          <a:bodyPr>
            <a:normAutofit fontScale="62500" lnSpcReduction="20000"/>
          </a:bodyPr>
          <a:lstStyle/>
          <a:p>
            <a:r>
              <a:rPr lang="zh-CN" altLang="en-US" b="0" i="0" dirty="0">
                <a:solidFill>
                  <a:srgbClr val="121212"/>
                </a:solidFill>
                <a:effectLst/>
                <a:latin typeface="-apple-system"/>
              </a:rPr>
              <a:t>这是一部大经，从人间讲到地狱，从地狱讲到旁生，从旁生讲到天人。中间还夹杂外道苦行的知见。真是包罗万象，尽收眼底。上天入地叹为观止。</a:t>
            </a:r>
            <a:br>
              <a:rPr lang="zh-CN" altLang="en-US" dirty="0"/>
            </a:br>
            <a:br>
              <a:rPr lang="zh-CN" altLang="en-US" dirty="0"/>
            </a:br>
            <a:r>
              <a:rPr lang="zh-CN" altLang="en-US" dirty="0"/>
              <a:t>然表达之意思，不离苦乐无常，</a:t>
            </a:r>
            <a:r>
              <a:rPr lang="zh-CN" altLang="en-US" dirty="0">
                <a:hlinkClick r:id="rId2"/>
              </a:rPr>
              <a:t>天堂地狱</a:t>
            </a:r>
            <a:r>
              <a:rPr lang="zh-CN" altLang="en-US" dirty="0"/>
              <a:t>惟人自召，</a:t>
            </a:r>
            <a:r>
              <a:rPr lang="zh-CN" altLang="en-US" dirty="0">
                <a:hlinkClick r:id="rId3"/>
              </a:rPr>
              <a:t>苦集灭道</a:t>
            </a:r>
            <a:r>
              <a:rPr lang="zh-CN" altLang="en-US" dirty="0"/>
              <a:t>，无处不现，身口意业就在汝前，不可不知，不可不思也。</a:t>
            </a:r>
          </a:p>
          <a:p>
            <a:r>
              <a:rPr lang="zh-CN" altLang="en-US" dirty="0"/>
              <a:t>龙神威德自在也会有金鹏天克，</a:t>
            </a:r>
          </a:p>
          <a:p>
            <a:r>
              <a:rPr lang="zh-CN" altLang="en-US" dirty="0"/>
              <a:t>轮</a:t>
            </a:r>
            <a:r>
              <a:rPr lang="zh-CN" altLang="en-US" dirty="0">
                <a:hlinkClick r:id="rId4"/>
              </a:rPr>
              <a:t>王文治</a:t>
            </a:r>
            <a:r>
              <a:rPr lang="zh-CN" altLang="en-US" dirty="0"/>
              <a:t>武功逃不过</a:t>
            </a:r>
            <a:r>
              <a:rPr lang="zh-CN" altLang="en-US" dirty="0">
                <a:hlinkClick r:id="rId5"/>
              </a:rPr>
              <a:t>金棺银椁</a:t>
            </a:r>
            <a:r>
              <a:rPr lang="zh-CN" altLang="en-US" dirty="0"/>
              <a:t>；</a:t>
            </a:r>
          </a:p>
          <a:p>
            <a:r>
              <a:rPr lang="zh-CN" altLang="en-US" dirty="0"/>
              <a:t>身口意业微妙变化现</a:t>
            </a:r>
            <a:r>
              <a:rPr lang="zh-CN" altLang="en-US" dirty="0">
                <a:hlinkClick r:id="rId6"/>
              </a:rPr>
              <a:t>地狱天堂</a:t>
            </a:r>
            <a:r>
              <a:rPr lang="zh-CN" altLang="en-US" dirty="0"/>
              <a:t>，</a:t>
            </a:r>
          </a:p>
          <a:p>
            <a:r>
              <a:rPr lang="zh-CN" altLang="en-US" dirty="0"/>
              <a:t>苦集灭生老病死阎魔王说无常；</a:t>
            </a:r>
          </a:p>
          <a:p>
            <a:r>
              <a:rPr lang="zh-CN" altLang="en-US" dirty="0"/>
              <a:t>地水火风变金银琉璃</a:t>
            </a:r>
            <a:r>
              <a:rPr lang="zh-CN" altLang="en-US" dirty="0">
                <a:hlinkClick r:id="rId7"/>
              </a:rPr>
              <a:t>砗磲玛瑙</a:t>
            </a:r>
            <a:r>
              <a:rPr lang="zh-CN" altLang="en-US" dirty="0"/>
              <a:t>，</a:t>
            </a:r>
          </a:p>
          <a:p>
            <a:r>
              <a:rPr lang="zh-CN" altLang="en-US" dirty="0"/>
              <a:t>四大随业变化离不开</a:t>
            </a:r>
            <a:r>
              <a:rPr lang="zh-CN" altLang="en-US" dirty="0">
                <a:hlinkClick r:id="rId8"/>
              </a:rPr>
              <a:t>成住坏空</a:t>
            </a:r>
            <a:r>
              <a:rPr lang="zh-CN" altLang="en-US" dirty="0"/>
              <a:t>；</a:t>
            </a:r>
          </a:p>
          <a:p>
            <a:r>
              <a:rPr lang="zh-CN" altLang="en-US" dirty="0"/>
              <a:t>大铁围</a:t>
            </a:r>
            <a:r>
              <a:rPr lang="zh-CN" altLang="en-US" dirty="0">
                <a:hlinkClick r:id="rId9"/>
              </a:rPr>
              <a:t>须弥山</a:t>
            </a:r>
            <a:r>
              <a:rPr lang="zh-CN" altLang="en-US" dirty="0"/>
              <a:t>七宝众华集成沙，</a:t>
            </a:r>
          </a:p>
          <a:p>
            <a:r>
              <a:rPr lang="zh-CN" altLang="en-US" dirty="0"/>
              <a:t>众比丘议论忙忘记善法请说法，</a:t>
            </a:r>
          </a:p>
          <a:p>
            <a:r>
              <a:rPr lang="zh-CN" altLang="en-US" dirty="0"/>
              <a:t>世尊慈悲专问宣说大法</a:t>
            </a:r>
            <a:r>
              <a:rPr lang="zh-CN" altLang="en-US" dirty="0">
                <a:hlinkClick r:id="rId10"/>
              </a:rPr>
              <a:t>起世经</a:t>
            </a:r>
            <a:r>
              <a:rPr lang="zh-CN" altLang="en-US" dirty="0"/>
              <a:t>。</a:t>
            </a:r>
          </a:p>
        </p:txBody>
      </p:sp>
    </p:spTree>
    <p:extLst>
      <p:ext uri="{BB962C8B-B14F-4D97-AF65-F5344CB8AC3E}">
        <p14:creationId xmlns:p14="http://schemas.microsoft.com/office/powerpoint/2010/main" val="1724704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76721C-520F-864E-9B2B-43A523029780}"/>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66058284-5B35-884D-BA31-1B3B78BE148E}"/>
              </a:ext>
            </a:extLst>
          </p:cNvPr>
          <p:cNvSpPr>
            <a:spLocks noGrp="1"/>
          </p:cNvSpPr>
          <p:nvPr>
            <p:ph idx="1"/>
          </p:nvPr>
        </p:nvSpPr>
        <p:spPr/>
        <p:txBody>
          <a:bodyPr>
            <a:normAutofit fontScale="70000" lnSpcReduction="20000"/>
          </a:bodyPr>
          <a:lstStyle/>
          <a:p>
            <a:r>
              <a:rPr lang="zh-CN" altLang="en-US" dirty="0"/>
              <a:t>这部经大意是，因众生（比丘议论）起无明业起，谈论此世间种种知见，</a:t>
            </a:r>
          </a:p>
          <a:p>
            <a:r>
              <a:rPr lang="zh-CN" altLang="en-US" dirty="0">
                <a:hlinkClick r:id="rId2"/>
              </a:rPr>
              <a:t>天文地理</a:t>
            </a:r>
            <a:r>
              <a:rPr lang="zh-CN" altLang="en-US" dirty="0"/>
              <a:t>，</a:t>
            </a:r>
            <a:r>
              <a:rPr lang="zh-CN" altLang="en-US" dirty="0">
                <a:hlinkClick r:id="rId3"/>
              </a:rPr>
              <a:t>花鸟鱼虫</a:t>
            </a:r>
            <a:r>
              <a:rPr lang="zh-CN" altLang="en-US" dirty="0"/>
              <a:t>，天堂地狱，风土人情，历史政治，种种国土。这些内容随便一个展开，都是无量无边，你看看我们现在的大学，哪一科有一个尽头呢？更何况互相交叉，这样议论下去，到死也没有尽头。</a:t>
            </a:r>
          </a:p>
          <a:p>
            <a:r>
              <a:rPr lang="zh-CN" altLang="en-US" dirty="0"/>
              <a:t>佛发现众生不修正法，而落入世间知见，故说</a:t>
            </a:r>
            <a:r>
              <a:rPr lang="en-US" altLang="zh-CN" dirty="0"/>
              <a:t>《</a:t>
            </a:r>
            <a:r>
              <a:rPr lang="zh-CN" altLang="en-US" dirty="0"/>
              <a:t>起世经</a:t>
            </a:r>
            <a:r>
              <a:rPr lang="en-US" altLang="zh-CN" dirty="0"/>
              <a:t>》</a:t>
            </a:r>
            <a:r>
              <a:rPr lang="zh-CN" altLang="en-US" dirty="0"/>
              <a:t>，这部经并不是讲“</a:t>
            </a:r>
            <a:r>
              <a:rPr lang="zh-CN" altLang="en-US" dirty="0">
                <a:hlinkClick r:id="rId4"/>
              </a:rPr>
              <a:t>物种起源</a:t>
            </a:r>
            <a:r>
              <a:rPr lang="zh-CN" altLang="en-US" dirty="0"/>
              <a:t>，盘古开天，女娲造人”，而是灭众生的想啊，同时又不离正法。这才是佛讲这部经的本意。</a:t>
            </a:r>
          </a:p>
          <a:p>
            <a:r>
              <a:rPr lang="zh-CN" altLang="en-US" dirty="0"/>
              <a:t>如果大家拿这部经的某些细节，和现实世界做比较，用科学做回应，结果处处不同，处处不可思议，那就背离了佛的本意，反而毁谤佛法，可悲可悲啊。</a:t>
            </a:r>
          </a:p>
          <a:p>
            <a:r>
              <a:rPr lang="zh-CN" altLang="en-US" dirty="0"/>
              <a:t>现代人知道地球是圆的，</a:t>
            </a:r>
            <a:r>
              <a:rPr lang="en-US" altLang="zh-CN" dirty="0"/>
              <a:t>2500</a:t>
            </a:r>
            <a:r>
              <a:rPr lang="zh-CN" altLang="en-US" dirty="0"/>
              <a:t>年前，佛要说圆还是说方呢？这其中之密意，要明眼人细思，再思。</a:t>
            </a:r>
          </a:p>
          <a:p>
            <a:r>
              <a:rPr lang="zh-CN" altLang="en-US" dirty="0"/>
              <a:t>如果今人还执着“十万由旬”“须弥山王”“一劫十劫”，那就是今人的愚痴，度佛陀的智慧。</a:t>
            </a:r>
          </a:p>
          <a:p>
            <a:r>
              <a:rPr lang="zh-CN" altLang="en-US" dirty="0"/>
              <a:t>佛要断众生世俗的知见，</a:t>
            </a:r>
          </a:p>
          <a:p>
            <a:r>
              <a:rPr lang="zh-CN" altLang="en-US" dirty="0">
                <a:hlinkClick r:id="rId5"/>
              </a:rPr>
              <a:t>编辑于 </a:t>
            </a:r>
            <a:r>
              <a:rPr lang="en-US" altLang="zh-CN" dirty="0">
                <a:hlinkClick r:id="rId5"/>
              </a:rPr>
              <a:t>2019-11-06 13:37</a:t>
            </a:r>
            <a:endParaRPr lang="zh-CN" altLang="en-US" dirty="0"/>
          </a:p>
          <a:p>
            <a:endParaRPr kumimoji="1" lang="zh-CN" altLang="en-US" dirty="0"/>
          </a:p>
        </p:txBody>
      </p:sp>
    </p:spTree>
    <p:extLst>
      <p:ext uri="{BB962C8B-B14F-4D97-AF65-F5344CB8AC3E}">
        <p14:creationId xmlns:p14="http://schemas.microsoft.com/office/powerpoint/2010/main" val="2755176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A2343B-2FF1-DB46-954E-83819C2CD797}"/>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0F86B2BB-C7A6-3442-9BBB-6684E75A6E23}"/>
              </a:ext>
            </a:extLst>
          </p:cNvPr>
          <p:cNvSpPr>
            <a:spLocks noGrp="1"/>
          </p:cNvSpPr>
          <p:nvPr>
            <p:ph idx="1"/>
          </p:nvPr>
        </p:nvSpPr>
        <p:spPr/>
        <p:txBody>
          <a:bodyPr>
            <a:normAutofit fontScale="85000" lnSpcReduction="20000"/>
          </a:bodyPr>
          <a:lstStyle/>
          <a:p>
            <a:r>
              <a:rPr kumimoji="1" lang="zh-CN" altLang="en-US" dirty="0"/>
              <a:t>此三千大千世界同时成立，同时成已而复散坏，同时坏已而复还立，同时立已而得安住</a:t>
            </a:r>
            <a:endParaRPr kumimoji="1" lang="en-US" altLang="zh-CN" dirty="0"/>
          </a:p>
          <a:p>
            <a:r>
              <a:rPr kumimoji="1" lang="zh-CN" altLang="en-US" dirty="0"/>
              <a:t>如是大地，住于水上，水住风上，风依虚空。</a:t>
            </a:r>
            <a:endParaRPr kumimoji="1" lang="en-US" altLang="zh-CN" dirty="0"/>
          </a:p>
          <a:p>
            <a:r>
              <a:rPr kumimoji="1" lang="zh-CN" altLang="en-US" dirty="0"/>
              <a:t>此大地下，所有水聚，厚六十万由旬，周阔无量。彼水聚下，所有风聚，厚三十六万由旬，周阔无量。</a:t>
            </a:r>
            <a:endParaRPr kumimoji="1" lang="en-US" altLang="zh-CN" dirty="0"/>
          </a:p>
          <a:p>
            <a:r>
              <a:rPr kumimoji="1" lang="zh-CN" altLang="en-US" dirty="0"/>
              <a:t>此大海水，最极深处，深八万四千由旬，周阔无量。</a:t>
            </a:r>
            <a:endParaRPr kumimoji="1" lang="en-US" altLang="zh-CN" dirty="0"/>
          </a:p>
          <a:p>
            <a:r>
              <a:rPr kumimoji="1" lang="zh-CN" altLang="en-US" dirty="0"/>
              <a:t>须弥山王，下入海水，八万四千由旬，上出海水，亦八万四千由旬。须弥山王，其底平正，下根连住大金轮上。须弥山王，在大海中，下狭上阔，渐渐宽大，端直不曲，大身牢固，佳妙殊特，最胜可观，四宝合成，所谓金、银、琉璃、颇梨。</a:t>
            </a:r>
            <a:endParaRPr kumimoji="1" lang="en-US" altLang="zh-CN" dirty="0"/>
          </a:p>
          <a:p>
            <a:r>
              <a:rPr kumimoji="1" lang="zh-CN" altLang="en-US" dirty="0"/>
              <a:t>须弥山上，生种种树，其树郁茂，出种种香，其香远熏，遍满诸山，多众圣贤，最大威德，胜妙天神之所止住。</a:t>
            </a:r>
          </a:p>
        </p:txBody>
      </p:sp>
    </p:spTree>
    <p:extLst>
      <p:ext uri="{BB962C8B-B14F-4D97-AF65-F5344CB8AC3E}">
        <p14:creationId xmlns:p14="http://schemas.microsoft.com/office/powerpoint/2010/main" val="2569006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E2C645-BA18-5041-9F68-BA896D2F51F8}"/>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0AF13F8A-4513-1646-87F2-AF8426521227}"/>
              </a:ext>
            </a:extLst>
          </p:cNvPr>
          <p:cNvSpPr>
            <a:spLocks noGrp="1"/>
          </p:cNvSpPr>
          <p:nvPr>
            <p:ph idx="1"/>
          </p:nvPr>
        </p:nvSpPr>
        <p:spPr/>
        <p:txBody>
          <a:bodyPr/>
          <a:lstStyle/>
          <a:p>
            <a:r>
              <a:rPr lang="zh-CN" altLang="zh-CN" sz="1800" kern="0" spc="75"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须弥山王，上分有峯，四面挺出，曲临海上，各高七百由旬，殊妙可爱，七宝合成，所谓金、银、琉璃、颇梨、真珠、车璩、玛瑙之所庄挍。</a:t>
            </a:r>
            <a:endParaRPr lang="en-US" altLang="zh-CN" sz="1800" kern="0" spc="75"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p>
            <a:r>
              <a:rPr lang="zh-CN" altLang="zh-CN" sz="1800" kern="0" spc="75"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须弥山下，别有三级，诸神住处。其最下级，纵广正等，六十由旬，七重牆院、七重栏楯、七重铃网，复有七重多罗行树，周匝围遶，端严可爱，其树皆以金银琉璃颇梨赤珠车璩玛瑙七宝所成。一一牆院，各有四门，于一一门，有诸垒堞重阁、辇轩却敌楼橹、台殿房廊、苑园池沼，具足庄严。一一池中，竝出妙华，散众香气。有诸树林，种种茎叶，种种花果悉皆具足，亦出种种殊妙香气。复有诸鸟，各出妙音，鸣声间杂，和雅清畅。其第二级，纵广正等，四十由旬，七重牆院、七重栏楯、七重铃网，多罗行树亦有七重，周匝齐平，端严可爱，亦为七宝，金银琉璃颇梨赤珠车璩玛瑙之所挍饰。所有庄严，门观楼阁台殿、园池果树众鸟，皆悉具足。其最上级，纵广正等，二十由旬，七重牆院，乃至诸鸟，各出妙音，莫不具足。</a:t>
            </a:r>
            <a:endParaRPr lang="en-US" altLang="zh-CN" sz="1800" kern="0" spc="75"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p>
            <a:r>
              <a:rPr lang="zh-CN" altLang="zh-CN" sz="1800" kern="0" spc="75"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于下级中，有夜叉住，名曰鉢手；第二级中，有夜叉住，名曰持鬘；于上级中，有夜叉住，名曰常醉。</a:t>
            </a:r>
            <a:r>
              <a:rPr lang="zh-CN" altLang="zh-CN" dirty="0">
                <a:effectLst/>
              </a:rPr>
              <a:t> </a:t>
            </a:r>
            <a:endParaRPr kumimoji="1" lang="zh-CN" altLang="en-US" dirty="0"/>
          </a:p>
        </p:txBody>
      </p:sp>
    </p:spTree>
    <p:extLst>
      <p:ext uri="{BB962C8B-B14F-4D97-AF65-F5344CB8AC3E}">
        <p14:creationId xmlns:p14="http://schemas.microsoft.com/office/powerpoint/2010/main" val="706945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03ABC5-87C4-7848-825E-478416155DB3}"/>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EA9F801C-2BAB-194E-A3D0-7369B28C135E}"/>
              </a:ext>
            </a:extLst>
          </p:cNvPr>
          <p:cNvSpPr>
            <a:spLocks noGrp="1"/>
          </p:cNvSpPr>
          <p:nvPr>
            <p:ph idx="1"/>
          </p:nvPr>
        </p:nvSpPr>
        <p:spPr/>
        <p:txBody>
          <a:bodyPr/>
          <a:lstStyle/>
          <a:p>
            <a:r>
              <a:rPr lang="zh-CN" altLang="zh-CN" sz="1800" kern="0" spc="75"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须弥山半，高四万二千由旬，有四大天王所居宫殿；须弥山上，有三十三天宫殿，帝释所居；三十三天已上一倍，有夜摩诸天所居宫殿；夜摩天上，又更一倍，有兜率陀天所居宫殿；兜率天上，又更一倍，有化乐诸天所居宫殿；化乐天上，又更一倍，有他化自在诸天宫殿；他化天上，又更一倍，有梵身诸天所居宫殿；他化天上，梵身天下，于其中间，有摩罗波旬诸天宫殿；倍梵身上，有光音天；倍光音上，有遍净天；倍遍净上，有广果天；倍广果上，有不麤天；广果天上，不麤天下；其间别有诸天宫殿所居之处，名无想众生；倍不麤上，有不恼天；倍不恼上，有善见天；倍善见上，有善现天；倍善现上，有阿迦尼吒诸天宫殿。诸比丘！阿迦尼吒已上，更有诸天，名无边空处、无边识处、无所有处、非想非非想处，此等皆名诸天住处。诸比丘！如是处所，如是界分，众生居住；是诸众生，若来若去，若生若灭，边际所极。此世</a:t>
            </a:r>
            <a:r>
              <a:rPr lang="zh-CN" altLang="zh-CN" dirty="0">
                <a:effectLst/>
              </a:rPr>
              <a:t> </a:t>
            </a:r>
            <a:endParaRPr kumimoji="1" lang="zh-CN" altLang="en-US" dirty="0"/>
          </a:p>
        </p:txBody>
      </p:sp>
    </p:spTree>
    <p:extLst>
      <p:ext uri="{BB962C8B-B14F-4D97-AF65-F5344CB8AC3E}">
        <p14:creationId xmlns:p14="http://schemas.microsoft.com/office/powerpoint/2010/main" val="3111692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C7B6AD-E9F8-0B49-BEEA-D19ECF7A3278}"/>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63ECA1AA-F8E7-2747-B108-5A994EF4217E}"/>
              </a:ext>
            </a:extLst>
          </p:cNvPr>
          <p:cNvSpPr>
            <a:spLocks noGrp="1"/>
          </p:cNvSpPr>
          <p:nvPr>
            <p:ph idx="1"/>
          </p:nvPr>
        </p:nvSpPr>
        <p:spPr/>
        <p:txBody>
          <a:bodyPr/>
          <a:lstStyle/>
          <a:p>
            <a:r>
              <a:rPr kumimoji="1" lang="zh-CN" altLang="en-US" dirty="0"/>
              <a:t>名无边空处、无边识处、无所有处、非想非非想处</a:t>
            </a:r>
          </a:p>
        </p:txBody>
      </p:sp>
    </p:spTree>
    <p:extLst>
      <p:ext uri="{BB962C8B-B14F-4D97-AF65-F5344CB8AC3E}">
        <p14:creationId xmlns:p14="http://schemas.microsoft.com/office/powerpoint/2010/main" val="2766501125"/>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sz="2400" dirty="0">
            <a:ea typeface="KaiTi" panose="02010609060101010101" pitchFamily="49" charset="-122"/>
            <a:cs typeface="Times New Roman" panose="02020603050405020304" pitchFamily="18" charset="0"/>
          </a:defRPr>
        </a:defPPr>
      </a:lstStyle>
    </a:txDef>
  </a:objectDefaults>
  <a:extraClrSchemeLst/>
  <a:extLst>
    <a:ext uri="{05A4C25C-085E-4340-85A3-A5531E510DB2}">
      <thm15:themeFamily xmlns:thm15="http://schemas.microsoft.com/office/thememl/2012/main" name="藏医天文历算与医生算结合" id="{8087BC83-8F89-E047-A22B-B35AC7AA8A45}" vid="{93C045E8-8485-A740-9C4B-20455712F912}"/>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sz="2400" dirty="0">
            <a:ea typeface="KaiTi" panose="02010609060101010101" pitchFamily="49" charset="-122"/>
            <a:cs typeface="Times New Roman" panose="02020603050405020304" pitchFamily="18" charset="0"/>
          </a:defRPr>
        </a:defPPr>
      </a:lstStyle>
    </a:txDef>
  </a:objectDefaults>
  <a:extraClrSchemeLst/>
  <a:extLst>
    <a:ext uri="{05A4C25C-085E-4340-85A3-A5531E510DB2}">
      <thm15:themeFamily xmlns:thm15="http://schemas.microsoft.com/office/thememl/2012/main" name="藏医天文历算与医生算结合" id="{8087BC83-8F89-E047-A22B-B35AC7AA8A45}" vid="{B718E9D6-DBCE-C040-8BBF-C17EEB3B9DE3}"/>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314</TotalTime>
  <Words>2095</Words>
  <Application>Microsoft Macintosh PowerPoint</Application>
  <PresentationFormat>宽屏</PresentationFormat>
  <Paragraphs>51</Paragraphs>
  <Slides>12</Slides>
  <Notes>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12</vt:i4>
      </vt:variant>
    </vt:vector>
  </HeadingPairs>
  <TitlesOfParts>
    <vt:vector size="21" baseType="lpstr">
      <vt:lpstr>-apple-system</vt:lpstr>
      <vt:lpstr>等线</vt:lpstr>
      <vt:lpstr>Arial</vt:lpstr>
      <vt:lpstr>Calibri</vt:lpstr>
      <vt:lpstr>Helvetica Neue</vt:lpstr>
      <vt:lpstr>Times New Roman</vt:lpstr>
      <vt:lpstr>Wingdings</vt:lpstr>
      <vt:lpstr>Office 主题​​</vt:lpstr>
      <vt:lpstr>1_Office 主题​​</vt:lpstr>
      <vt:lpstr>藏医天文历算学理论体系及医算结合的应用研究</vt:lpstr>
      <vt:lpstr>PowerPoint 演示文稿</vt:lpstr>
      <vt:lpstr>关于人工智能的问题</vt:lpstr>
      <vt:lpstr>PowerPoint 演示文稿</vt:lpstr>
      <vt:lpstr>论文的工作</vt:lpstr>
      <vt:lpstr>起世经，为佛陀解说宇宙形成、发展、组织和灭亡的经书。</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藏医天文历算学理论体系及医算结合的应用研究</dc:title>
  <dc:creator>吴敏</dc:creator>
  <cp:lastModifiedBy>吴敏</cp:lastModifiedBy>
  <cp:revision>1</cp:revision>
  <dcterms:created xsi:type="dcterms:W3CDTF">2024-08-27T02:40:56Z</dcterms:created>
  <dcterms:modified xsi:type="dcterms:W3CDTF">2024-08-27T07:55:56Z</dcterms:modified>
</cp:coreProperties>
</file>